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7FFD57EF_0.xml" ContentType="application/vnd.ms-powerpoint.comments+xml"/>
  <Override PartName="/ppt/comments/modernComment_7FFD57F0_0.xml" ContentType="application/vnd.ms-powerpoint.comments+xml"/>
  <Override PartName="/ppt/comments/modernComment_7FFD57F1_0.xml" ContentType="application/vnd.ms-powerpoint.comments+xml"/>
  <Override PartName="/ppt/comments/modernComment_7FFD57F2_0.xml" ContentType="application/vnd.ms-powerpoint.comments+xml"/>
  <Override PartName="/ppt/comments/modernComment_7FFD57F3_0.xml" ContentType="application/vnd.ms-powerpoint.comments+xml"/>
  <Override PartName="/ppt/comments/modernComment_7FFD57F4_0.xml" ContentType="application/vnd.ms-powerpoint.comments+xml"/>
  <Override PartName="/ppt/comments/modernComment_7FFD57F5_0.xml" ContentType="application/vnd.ms-powerpoint.comments+xml"/>
  <Override PartName="/ppt/comments/modernComment_7FFD5802_0.xml" ContentType="application/vnd.ms-powerpoint.comments+xml"/>
  <Override PartName="/ppt/comments/modernComment_7FFD5803_0.xml" ContentType="application/vnd.ms-powerpoint.comments+xml"/>
  <Override PartName="/ppt/comments/modernComment_7FFD5804_0.xml" ContentType="application/vnd.ms-powerpoint.comments+xml"/>
  <Override PartName="/ppt/comments/modernComment_7FFD5805_0.xml" ContentType="application/vnd.ms-powerpoint.comments+xml"/>
  <Override PartName="/ppt/comments/modernComment_7FFD5806_0.xml" ContentType="application/vnd.ms-powerpoint.comments+xml"/>
  <Override PartName="/ppt/comments/modernComment_7FFD57F8_0.xml" ContentType="application/vnd.ms-powerpoint.comments+xml"/>
  <Override PartName="/ppt/comments/modernComment_7FFD57F9_0.xml" ContentType="application/vnd.ms-powerpoint.comments+xml"/>
  <Override PartName="/ppt/comments/modernComment_7FFD57FA_0.xml" ContentType="application/vnd.ms-powerpoint.comments+xml"/>
  <Override PartName="/ppt/comments/modernComment_7FFD57FB_0.xml" ContentType="application/vnd.ms-powerpoint.comments+xml"/>
  <Override PartName="/ppt/comments/modernComment_7FFD57FC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22"/>
  </p:notesMasterIdLst>
  <p:sldIdLst>
    <p:sldId id="1954" r:id="rId3"/>
    <p:sldId id="2147309550" r:id="rId4"/>
    <p:sldId id="2147309551" r:id="rId5"/>
    <p:sldId id="2147309552" r:id="rId6"/>
    <p:sldId id="2147309553" r:id="rId7"/>
    <p:sldId id="2147309554" r:id="rId8"/>
    <p:sldId id="2147309555" r:id="rId9"/>
    <p:sldId id="2147309556" r:id="rId10"/>
    <p:sldId id="2147309557" r:id="rId11"/>
    <p:sldId id="2147309570" r:id="rId12"/>
    <p:sldId id="2147309571" r:id="rId13"/>
    <p:sldId id="2147309572" r:id="rId14"/>
    <p:sldId id="2147309573" r:id="rId15"/>
    <p:sldId id="2147309574" r:id="rId16"/>
    <p:sldId id="2147309560" r:id="rId17"/>
    <p:sldId id="2147309561" r:id="rId18"/>
    <p:sldId id="2147309562" r:id="rId19"/>
    <p:sldId id="2147309563" r:id="rId20"/>
    <p:sldId id="21473095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DEC0C1E-A179-8C70-6888-483F259561AF}" name="Simon Dumortier - M33068" initials="SD" userId="S::Simon.Dumortier@microchip.com::31d033e9-db06-40ac-a4d7-f101d1a06c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2AB99-2DE8-47D4-85BA-59497BDE8CCB}" v="2" dt="2026-04-25T00:43:50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omments/modernComment_7FFD57E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309561"/>
      <ac:spMk id="5" creationId="{00000000-0000-0000-0000-000000000000}"/>
      <ac:txMk cp="223">
        <ac:context len="880" hash="3297942286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309562"/>
      <ac:spMk id="5" creationId="{00000000-0000-0000-0000-000000000000}"/>
      <ac:txMk cp="223">
        <ac:context len="864" hash="2643050383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309563"/>
      <ac:spMk id="5" creationId="{00000000-0000-0000-0000-000000000000}"/>
      <ac:txMk cp="223">
        <ac:context len="900" hash="2981376672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7F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309564"/>
      <ac:spMk id="5" creationId="{00000000-0000-0000-0000-000000000000}"/>
      <ac:txMk cp="223">
        <ac:context len="936" hash="294594747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8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8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8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8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comments/modernComment_7FFD58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14A08F-5267-4A4C-A94A-1C12D38AC52F}" authorId="{2DEC0C1E-A179-8C70-6888-483F259561AF}" status="resolved" created="2026-04-10T09:16:10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0843006" sldId="2147309391"/>
      <ac:spMk id="5" creationId="{2BAE813A-0ACC-1504-9D71-ECBC9D8ED632}"/>
      <ac:txMk cp="223">
        <ac:context len="337" hash="4289292940"/>
      </ac:txMk>
    </ac:txMkLst>
    <p188:pos x="2889393" y="3218523"/>
    <p188:txBody>
      <a:bodyPr/>
      <a:lstStyle/>
      <a:p>
        <a:r>
          <a:rPr lang="en-US"/>
          <a:t>press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E4F14-F295-4A34-98C0-6C2101D63B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448AF-65F1-4151-8167-26136E3AE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6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90A42-B72E-5A46-B50E-FD2FC7328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C5EEC-6530-21EC-4CB3-8C8110AA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95C5-9AC4-5C49-0D26-70467A31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36BEB-07B3-AA0A-F46E-5A23B5FE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1B850-90F8-D5BE-86DB-4FBAE1FD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7BFA6-2AE4-8053-0116-6F81C930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C4D2-5EB3-9692-3198-5D13224C8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EB35D-06D1-A1C7-EE7B-54110A95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5CF62-ED61-95C0-280A-C4322893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FD52-2362-EEA4-07A8-B957149E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7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086-FD66-048E-0A04-662EBFBE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FEA5-61D8-DD3F-0ECA-412FC2EF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0A1C3-3739-A086-B4EE-9A9B56EC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0210A-A9A3-DBB0-D2BD-CE7292AB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934C0-38F8-25AF-9E16-F4972F64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4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F4A3-1C68-7D5E-C060-1BAC1631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AD254-6E8F-D22D-D11E-6B00CE04B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537DD-2F26-68E2-7B66-0A1531733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32374-4D00-7A01-64CB-2B5EEE90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ED4A5-E14D-CE2A-2DFB-54E39122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15EB3-A201-1699-A1D2-DCE492A2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0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8D7CE-D743-78BF-8401-2F7ABA85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DDECA-E740-90B8-8F45-17BB8326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DD2FA-DE39-22B5-1CE9-F8F6FC9A7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7A93D-0D18-4A74-656C-EEA580C53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77474-B8C1-0AF0-B0EE-BC4701235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A9CD6-E1C4-F019-7E0E-9EAFEF29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E5844-1638-C86D-35F3-7395471F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E926-266A-13FD-579A-7C2662A1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9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483B-0D3A-8541-BCA6-FD4EBD8C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06809-AA04-7179-08FE-0238689B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EA8BE-E2BA-6870-7669-10CA1E82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94237-C64D-B44E-CBD2-B5E1884A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5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B4B87-F2B8-F474-8D47-05C2B55F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42719-A6B5-E619-CE2C-440D749C0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33FA-D647-5F2F-CB8E-BB85D68C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9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9AE3-78A7-A91F-C5D1-911F9744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57C87-6473-A2AE-7A59-3B1BE527A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B15EC-9F71-0896-9A81-89B92AEB6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A0EF1-5133-CD45-175E-93D03D4B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120A5-1E29-BECF-41F4-FFE06F68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07350-4117-C45A-8710-6AA304BE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2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C332-1882-A940-9773-81561B33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207BE-49C8-878D-13CB-6F41BC76F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8E0B2-9B16-470E-F5C6-28CDC3FB1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84F06-C3E7-3AE0-9B98-4B066B5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FDB8A-43E0-1BF3-A288-A22BCCA2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7D555-3EA2-9CE3-3F2B-47C25BF3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6D4F-BC04-04D1-E89C-343FA9A2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71C7B-3BC5-50BF-7E03-4BE9C9EB0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6A91F-F2CE-D385-09EB-D02B4873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80D92-8DC6-2300-35DB-04CE7BCE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F4A57-2673-27CD-A37F-B0E0BD47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7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7B09B-A81B-8D13-82A1-7396DCCB7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FC0DC-9010-7ECD-8A42-47F488313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0F99D-D7E6-EC66-A3DB-BF43E016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D09DB-9E24-97E7-691A-ABF121E2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1C4F-21F8-54D8-79B0-AAACEC0B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7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58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179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1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825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4161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728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7049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7496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7923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0569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4416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1667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251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177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246EB-9AFD-C1E6-E512-D78A48F9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8304-BB11-9C5F-B95A-35B0D540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22256-FA49-A984-713A-72594D197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2F7C8-7763-4271-B40D-5885841484D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8919-16F8-D388-43D1-100217F4C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9FF8-2297-4FBD-6D80-F6ACC8074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02E36-09FC-4CF2-9BC8-86C692AB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6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8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EF_0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0_0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7FFD57F1_0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2_0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3_0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4_0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5_0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7FFD5802_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803_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804_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805_0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806_0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7FFD57F8_0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9_0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A_0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B_0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D57FC_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Academic Program Workshop: Microchip PyKit Explorer Games</a:t>
            </a: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98" y="96295"/>
            <a:ext cx="1140066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PyKit Explorer Games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0192" y="813698"/>
            <a:ext cx="11400661" cy="57186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45A8C4"/>
                </a:solidFill>
              </a:rPr>
              <a:t>Snake • Super Mario Bros • Space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4ED93-590E-F255-0AA5-DBEE07020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7" y="2364499"/>
            <a:ext cx="3638381" cy="23006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E5FC79-938A-B35A-FD1E-C63FDEE3D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60121" y="1504878"/>
            <a:ext cx="2300631" cy="4019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45E0F8-7259-DB54-E89C-EB3A3B1C6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940" y="2364498"/>
            <a:ext cx="3850431" cy="23006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390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PyKit Explorer Games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Three full games — controlled by tilting the board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212271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/>
              <a:t>Snake</a:t>
            </a:r>
          </a:p>
          <a:p>
            <a:pPr lvl="1"/>
            <a:r>
              <a:rPr lang="en-US" sz="2400" dirty="0"/>
              <a:t>Classic grid game — eat food, grow longer, avoid yourself</a:t>
            </a:r>
          </a:p>
          <a:p>
            <a:pPr lvl="1"/>
            <a:r>
              <a:rPr lang="en-US" sz="2400" dirty="0"/>
              <a:t>IMU tilt steers the snake in real time</a:t>
            </a:r>
          </a:p>
          <a:p>
            <a:pPr lvl="1"/>
            <a:r>
              <a:rPr lang="en-US" sz="2400" dirty="0"/>
              <a:t>High score persisted in on-chip NVM across power cycles</a:t>
            </a:r>
          </a:p>
          <a:p>
            <a:pPr marL="273685" indent="-273685"/>
            <a:r>
              <a:rPr lang="en-US" sz="2800" b="1" dirty="0"/>
              <a:t>Super Mario Bros</a:t>
            </a:r>
          </a:p>
          <a:p>
            <a:pPr lvl="1"/>
            <a:r>
              <a:rPr lang="en-US" sz="2400" dirty="0"/>
              <a:t>Side-scrolling platformer with enemies, coins and audio</a:t>
            </a:r>
          </a:p>
          <a:p>
            <a:pPr lvl="1"/>
            <a:r>
              <a:rPr lang="en-US" sz="2400" dirty="0"/>
              <a:t>Tilt left/right to run; tilt forward to jump</a:t>
            </a:r>
          </a:p>
          <a:p>
            <a:pPr lvl="1"/>
            <a:r>
              <a:rPr lang="en-US" sz="2400" dirty="0"/>
              <a:t>Sprite pooling, WAV audio and 8.5-screen level</a:t>
            </a:r>
          </a:p>
          <a:p>
            <a:pPr marL="273685" indent="-273685"/>
            <a:r>
              <a:rPr lang="en-US" sz="2800" b="1" dirty="0"/>
              <a:t>Space Impact</a:t>
            </a:r>
          </a:p>
          <a:p>
            <a:pPr lvl="1"/>
            <a:r>
              <a:rPr lang="en-US" sz="2400" dirty="0"/>
              <a:t>Vertical shoot-em-up inspired by the Nokia classic</a:t>
            </a:r>
          </a:p>
          <a:p>
            <a:pPr lvl="1"/>
            <a:r>
              <a:rPr lang="en-US" sz="2400" dirty="0"/>
              <a:t>Tilt to aim; touch pad to fire</a:t>
            </a:r>
          </a:p>
          <a:p>
            <a:pPr lvl="1"/>
            <a:r>
              <a:rPr lang="en-US" sz="2400" dirty="0"/>
              <a:t>Enemies, projectiles, lives and scrolling starfield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All three use the same MVC software architecture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Architecture: MVC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Model – View – Controller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Why use MVC on a microcontroller?</a:t>
            </a:r>
          </a:p>
          <a:p>
            <a:pPr lvl="1"/>
            <a:r>
              <a:rPr lang="en-US" sz="2400" dirty="0"/>
              <a:t>Separation of concerns — each file has one job</a:t>
            </a:r>
          </a:p>
          <a:p>
            <a:pPr lvl="1"/>
            <a:r>
              <a:rPr lang="en-US" sz="2400" dirty="0"/>
              <a:t>Game logic can be tested on a PC without any hardware</a:t>
            </a:r>
          </a:p>
          <a:p>
            <a:pPr lvl="1"/>
            <a:r>
              <a:rPr lang="en-US" sz="2400" dirty="0"/>
              <a:t>Swapping the display or adding BLE requires zero game-logic changes</a:t>
            </a:r>
          </a:p>
          <a:p>
            <a:pPr marL="273685" indent="-273685"/>
            <a:r>
              <a:rPr lang="en-US" sz="2800" b="1" dirty="0"/>
              <a:t>MODEL  (snake_model.py)</a:t>
            </a:r>
          </a:p>
          <a:p>
            <a:pPr lvl="1"/>
            <a:r>
              <a:rPr lang="en-US" sz="2400" dirty="0"/>
              <a:t>The brain — all game state and rules, no hardware</a:t>
            </a:r>
          </a:p>
          <a:p>
            <a:pPr marL="273685" indent="-273685"/>
            <a:r>
              <a:rPr lang="en-US" sz="2800" b="1" dirty="0"/>
              <a:t>VIEW  (snake_view.py)</a:t>
            </a:r>
          </a:p>
          <a:p>
            <a:pPr lvl="1"/>
            <a:r>
              <a:rPr lang="en-US" sz="2400" dirty="0"/>
              <a:t>All output — LCD, audio, LEDs — no knowledge of game rules</a:t>
            </a:r>
          </a:p>
          <a:p>
            <a:pPr marL="273685" indent="-273685"/>
            <a:r>
              <a:rPr lang="en-US" sz="2800" b="1" dirty="0"/>
              <a:t>CONTROLLER  (code.py)</a:t>
            </a:r>
          </a:p>
          <a:p>
            <a:pPr lvl="1"/>
            <a:r>
              <a:rPr lang="en-US" sz="2400" dirty="0"/>
              <a:t>The glue — reads inputs, ticks the Model, routes events to the View</a:t>
            </a:r>
          </a:p>
          <a:p>
            <a:pPr marL="273685" indent="-273685"/>
            <a:r>
              <a:rPr lang="en-US" sz="2800" b="1" dirty="0">
                <a:solidFill>
                  <a:srgbClr val="FF3355"/>
                </a:solidFill>
              </a:rPr>
              <a:t>Rule: the Model never calls the View.  The View never reads inputs.</a:t>
            </a:r>
          </a:p>
          <a:p>
            <a:pPr lvl="1"/>
            <a:r>
              <a:rPr lang="en-US" sz="2400" dirty="0"/>
              <a:t>All communication flows through the Controller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— snake_model.py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All game state and rules.  Zero hardware.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What it stores</a:t>
            </a:r>
          </a:p>
          <a:p>
            <a:pPr lvl="1"/>
            <a:r>
              <a:rPr lang="en-US" sz="2400" dirty="0"/>
              <a:t>snake — list of (x, y) cell positions; index 0 is the head</a:t>
            </a:r>
          </a:p>
          <a:p>
            <a:pPr lvl="1"/>
            <a:r>
              <a:rPr lang="en-US" sz="2400" dirty="0"/>
              <a:t>direction — current movement vector (UP / DOWN / LEFT / RIGHT)</a:t>
            </a:r>
          </a:p>
          <a:p>
            <a:pPr lvl="1"/>
            <a:r>
              <a:rPr lang="en-US" sz="2400" dirty="0"/>
              <a:t>food — (x, y) position of the pellet</a:t>
            </a:r>
          </a:p>
          <a:p>
            <a:pPr lvl="1"/>
            <a:r>
              <a:rPr lang="en-US" sz="2400" dirty="0"/>
              <a:t>score and high_score — persisted to NVM flash across reboots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What it does each tick (step())</a:t>
            </a:r>
          </a:p>
          <a:p>
            <a:pPr lvl="1"/>
            <a:r>
              <a:rPr lang="en-US" sz="2400" dirty="0"/>
              <a:t>Moves the head, checks wall and self-collision</a:t>
            </a:r>
          </a:p>
          <a:p>
            <a:pPr lvl="1"/>
            <a:r>
              <a:rPr lang="en-US" sz="2400" dirty="0"/>
              <a:t>Returns an event string: None, "ate_food", or "died"</a:t>
            </a:r>
          </a:p>
          <a:p>
            <a:pPr lvl="1"/>
            <a:r>
              <a:rPr lang="en-US" sz="2400" dirty="0"/>
              <a:t>Never resets itself — leaves that decision to the Controller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Demo / AI mode</a:t>
            </a:r>
          </a:p>
          <a:p>
            <a:pPr lvl="1"/>
            <a:r>
              <a:rPr lang="en-US" sz="2400" dirty="0"/>
              <a:t>_ai_step() — greedy pathfinding, tries food-preferring directions in order</a:t>
            </a:r>
          </a:p>
          <a:p>
            <a:pPr lvl="1"/>
            <a:r>
              <a:rPr lang="en-US" sz="2400" dirty="0"/>
              <a:t>Touch-pad tap toggles demo_mode; AI score never overwrites the player score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CE738-1DFB-2BBE-4852-DEBA74FA7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068" y="1"/>
            <a:ext cx="3621932" cy="2290232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View — snake_view.py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All output.  No game rules.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27825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displayio layer stack (back to front)</a:t>
            </a:r>
          </a:p>
          <a:p>
            <a:pPr lvl="1"/>
            <a:r>
              <a:rPr lang="en-US" sz="2400" dirty="0"/>
              <a:t>_game_layer — 24x18 Bitmap scaled 7x to fill the 240x135 LCD</a:t>
            </a:r>
          </a:p>
          <a:p>
            <a:pPr lvl="1"/>
            <a:r>
              <a:rPr lang="en-US" sz="2400" dirty="0"/>
              <a:t>border_group — 4 thin green rectangles (vectorio)</a:t>
            </a:r>
          </a:p>
          <a:p>
            <a:pPr lvl="1"/>
            <a:r>
              <a:rPr lang="en-US" sz="2400" dirty="0"/>
              <a:t>_ui — score label (top-right) and game-over overlay (centred)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render(model) — called every tick</a:t>
            </a:r>
          </a:p>
          <a:p>
            <a:pPr lvl="1"/>
            <a:r>
              <a:rPr lang="en-US" sz="2400" dirty="0"/>
              <a:t>Clears bitmap, paints food (red-pink), body (green), head (cyan)</a:t>
            </a:r>
          </a:p>
          <a:p>
            <a:pPr lvl="1"/>
            <a:r>
              <a:rPr lang="en-US" sz="2400" dirty="0"/>
              <a:t>The only place the View touches the Model — read-only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Events triggered by the Controller</a:t>
            </a:r>
          </a:p>
          <a:p>
            <a:pPr lvl="1"/>
            <a:r>
              <a:rPr lang="en-US" sz="2400" dirty="0"/>
              <a:t>update_score() — updates the score label text</a:t>
            </a:r>
          </a:p>
          <a:p>
            <a:pPr lvl="1"/>
            <a:r>
              <a:rPr lang="en-US" sz="2400" dirty="0"/>
              <a:t>flash_red() — swaps palette BG to red, waits 150 ms</a:t>
            </a:r>
          </a:p>
          <a:p>
            <a:pPr lvl="1"/>
            <a:r>
              <a:rPr lang="en-US" sz="2400" dirty="0"/>
              <a:t>show_game_over() — overlay with score + high score for 3 s</a:t>
            </a:r>
          </a:p>
          <a:p>
            <a:pPr lvl="1"/>
            <a:r>
              <a:rPr lang="en-US" sz="2400" dirty="0"/>
              <a:t>play_food_sfx() / play_gameover_sfx() — non-blocking DAC audio</a:t>
            </a:r>
          </a:p>
          <a:p>
            <a:pPr lvl="1"/>
            <a:r>
              <a:rPr lang="en-US" sz="2400" dirty="0"/>
              <a:t>set_mode_pixel() — NeoPixel: blue = manual, green = demo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Controller — code.py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Glue between hardware, Model and 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297111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Initialisation</a:t>
            </a:r>
          </a:p>
          <a:p>
            <a:pPr lvl="1"/>
            <a:r>
              <a:rPr lang="en-US" sz="2400" dirty="0"/>
              <a:t>Instantiates all hardware via API modules (LCD, IMU, NeoPixels, audio, touch)</a:t>
            </a:r>
          </a:p>
          <a:p>
            <a:pPr lvl="1"/>
            <a:r>
              <a:rPr lang="en-US" sz="2400" dirty="0"/>
              <a:t>Creates SnakeModel() then SnakeView(lcd, px, led, audio)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Main loop — runs every ~5 ms</a:t>
            </a:r>
          </a:p>
          <a:p>
            <a:pPr lvl="1"/>
            <a:r>
              <a:rPr lang="en-US" sz="2400" dirty="0"/>
              <a:t>poll_inputs() — reads IMU tilt and cap-touch pad every iteration</a:t>
            </a:r>
          </a:p>
          <a:p>
            <a:pPr lvl="1"/>
            <a:r>
              <a:rPr lang="en-US" sz="2400" dirty="0"/>
              <a:t>IMU tilt applies a low-pass filter (alpha=0.25) to remove vibration noise</a:t>
            </a:r>
          </a:p>
          <a:p>
            <a:pPr lvl="1"/>
            <a:r>
              <a:rPr lang="en-US" sz="2400" dirty="0"/>
              <a:t>Dominant-axis tilt above threshold (2.2 m/s²) sets direction via model.set_direction()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Game tick — fires every 120 ms</a:t>
            </a:r>
          </a:p>
          <a:p>
            <a:pPr lvl="1"/>
            <a:r>
              <a:rPr lang="en-US" sz="2400" dirty="0"/>
              <a:t>Calls model.step() and reads the event string</a:t>
            </a:r>
          </a:p>
          <a:p>
            <a:pPr lvl="1"/>
            <a:r>
              <a:rPr lang="en-US" sz="2400" dirty="0"/>
              <a:t>"ate_food" → view.update_score(), view.play_food_sfx()</a:t>
            </a:r>
          </a:p>
          <a:p>
            <a:pPr lvl="1"/>
            <a:r>
              <a:rPr lang="en-US" sz="2400" dirty="0"/>
              <a:t>"died" → view.flash_red(), view.show_game_over(), model.reset()</a:t>
            </a:r>
          </a:p>
          <a:p>
            <a:pPr lvl="1"/>
            <a:r>
              <a:rPr lang="en-US" sz="2400" dirty="0"/>
              <a:t>None → view.render(model) only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Snake — MVC Data Flow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How the three files talk to each other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25392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Every ~5 ms (poll_inputs)</a:t>
            </a:r>
          </a:p>
          <a:p>
            <a:pPr lvl="1"/>
            <a:r>
              <a:rPr lang="en-US" sz="2400" dirty="0"/>
              <a:t>IMU → ax, ay (raw m/s²) → low-pass filter → tilt direction → model.set_direction()</a:t>
            </a:r>
          </a:p>
          <a:p>
            <a:pPr lvl="1"/>
            <a:r>
              <a:rPr lang="en-US" sz="2400" dirty="0"/>
              <a:t>CapTouch pad → just_touched edge → model.toggle_demo() → view.set_mode_pixel()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Every 120 ms (game tick)</a:t>
            </a:r>
          </a:p>
          <a:p>
            <a:pPr lvl="1"/>
            <a:r>
              <a:rPr lang="en-US" sz="2400" dirty="0"/>
              <a:t>Controller calls model.step()</a:t>
            </a:r>
          </a:p>
          <a:p>
            <a:pPr lvl="1"/>
            <a:r>
              <a:rPr lang="en-US" sz="2400" dirty="0"/>
              <a:t>Model moves snake, checks collisions, returns event string</a:t>
            </a:r>
          </a:p>
          <a:p>
            <a:pPr lvl="1"/>
            <a:r>
              <a:rPr lang="en-US" sz="2400" dirty="0"/>
              <a:t>Controller reads event → calls matching view methods</a:t>
            </a:r>
          </a:p>
          <a:p>
            <a:pPr lvl="1"/>
            <a:r>
              <a:rPr lang="en-US" sz="2400" dirty="0"/>
              <a:t>Controller calls view.render(model) every tick regardless</a:t>
            </a:r>
          </a:p>
          <a:p>
            <a:pPr marL="273685" indent="-273685"/>
            <a:r>
              <a:rPr lang="en-US" sz="2800" b="1" dirty="0">
                <a:solidFill>
                  <a:srgbClr val="45A8C4"/>
                </a:solidFill>
              </a:rPr>
              <a:t>Key design constraints</a:t>
            </a:r>
          </a:p>
          <a:p>
            <a:pPr lvl="1"/>
            <a:r>
              <a:rPr lang="en-US" sz="2400" dirty="0"/>
              <a:t>Model only imports struct + microcontroller (no displayio, no audio)</a:t>
            </a:r>
          </a:p>
          <a:p>
            <a:pPr lvl="1"/>
            <a:r>
              <a:rPr lang="en-US" sz="2400" dirty="0"/>
              <a:t>View only imports displayio, audio, and constants from snake_model</a:t>
            </a:r>
          </a:p>
          <a:p>
            <a:pPr lvl="1"/>
            <a:r>
              <a:rPr lang="en-US" sz="2400" dirty="0"/>
              <a:t>Controller is the only file that imports everything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 Concepts in the Games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Real engineering skills — wrapped in a game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Hardware abstraction</a:t>
            </a:r>
          </a:p>
          <a:p>
            <a:pPr lvl="1"/>
            <a:r>
              <a:rPr lang="en-US" sz="2000" dirty="0"/>
              <a:t>API modules hide pin numbers, SPI buses and I2C addresses — swap hardware without touching game code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Sensor fusion and filtering</a:t>
            </a:r>
          </a:p>
          <a:p>
            <a:pPr lvl="1"/>
            <a:r>
              <a:rPr lang="en-US" sz="2000" dirty="0"/>
              <a:t>Exponential moving average LPF on IMU ax/ay reduces vibration noise in tilt control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Non-volatile memory (NVM)</a:t>
            </a:r>
          </a:p>
          <a:p>
            <a:pPr lvl="1"/>
            <a:r>
              <a:rPr lang="en-US" sz="2000" dirty="0"/>
              <a:t>High score packed into 6 bytes (magic marker + uint16) and written to on-chip flash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Non-blocking audio</a:t>
            </a:r>
          </a:p>
          <a:p>
            <a:pPr lvl="1"/>
            <a:r>
              <a:rPr lang="en-US" sz="2000" dirty="0"/>
              <a:t>AudioOut.play() fires in the background; the game loop never stalls waiting for sound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displayio layer compositing</a:t>
            </a:r>
          </a:p>
          <a:p>
            <a:pPr lvl="1"/>
            <a:r>
              <a:rPr lang="en-US" sz="2000" dirty="0"/>
              <a:t>Bitmap game layer + vectorio border + UI group stacked at the driver level for zero-copy rendering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Fixed-rate tick loop</a:t>
            </a:r>
          </a:p>
          <a:p>
            <a:pPr lvl="1"/>
            <a:r>
              <a:rPr lang="en-US" sz="2000" dirty="0"/>
              <a:t>Input sampled at ~200 Hz; game logic at 8.3 Hz — decoupled timing prevents input lag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98" y="96295"/>
            <a:ext cx="1140066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Super Mario Bros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0192" y="813698"/>
            <a:ext cx="11400661" cy="57186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45A8C4"/>
                </a:solidFill>
              </a:rPr>
              <a:t>MVC deep-dive — side-scrolling platformer on the PyKit Explorer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8F430-9AEB-2D3B-9F12-3E8943D61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9529" y="390652"/>
            <a:ext cx="4115798" cy="7191502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SMB — The Model (mario_model.py)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All game state and rules.  Zero hardware.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000" b="1" dirty="0">
                <a:solidFill>
                  <a:srgbClr val="45A8C4"/>
                </a:solidFill>
              </a:rPr>
              <a:t>Entities</a:t>
            </a:r>
          </a:p>
          <a:p>
            <a:pPr lvl="1"/>
            <a:r>
              <a:rPr lang="en-US" sz="1800" dirty="0"/>
              <a:t>Mario — position, velocity, on_ground, sprite_frame, facing_right, invincible, jump_triggered, is_running</a:t>
            </a:r>
          </a:p>
          <a:p>
            <a:pPr lvl="1"/>
            <a:r>
              <a:rPr lang="en-US" sz="1800" dirty="0"/>
              <a:t>Platform — world x/y, width, height, block_type (brick/question/pipe); static — no update() needed</a:t>
            </a:r>
          </a:p>
          <a:p>
            <a:pPr lvl="1"/>
            <a:r>
              <a:rPr lang="en-US" sz="1800" dirty="0"/>
              <a:t>Enemy (Goomba) — walks left, gravity, AABB bounce off walls, sprite_frame for walk animation</a:t>
            </a:r>
          </a:p>
          <a:p>
            <a:pPr lvl="1"/>
            <a:r>
              <a:rPr lang="en-US" sz="1800" dirty="0"/>
              <a:t>Coin — world x/y, collected flag; 8x14 AABB hitbox used for pickup detection</a:t>
            </a:r>
          </a:p>
          <a:p>
            <a:pPr marL="273685" indent="-273685"/>
            <a:r>
              <a:rPr lang="en-US" sz="2000" b="1" dirty="0">
                <a:solidFill>
                  <a:srgbClr val="45A8C4"/>
                </a:solidFill>
              </a:rPr>
              <a:t>Level — builds 2200 px wide world 1-1</a:t>
            </a:r>
          </a:p>
          <a:p>
            <a:pPr lvl="1"/>
            <a:r>
              <a:rPr lang="en-US" sz="1800" dirty="0"/>
              <a:t>Ground row, question blocks, brick platforms, pipes, staircase, enemies (x7), coins (x8)</a:t>
            </a:r>
          </a:p>
          <a:p>
            <a:pPr lvl="1"/>
            <a:r>
              <a:rPr lang="en-US" sz="1800" dirty="0"/>
              <a:t>All positions in world coordinates; Camera offset applied by the View during draw()</a:t>
            </a:r>
          </a:p>
          <a:p>
            <a:pPr marL="273685" indent="-273685"/>
            <a:r>
              <a:rPr lang="en-US" sz="2000" b="1" dirty="0">
                <a:solidFill>
                  <a:srgbClr val="45A8C4"/>
                </a:solidFill>
              </a:rPr>
              <a:t>Camera — smooth-follow scrolling</a:t>
            </a:r>
          </a:p>
          <a:p>
            <a:pPr lvl="1"/>
            <a:r>
              <a:rPr lang="en-US" sz="1800" dirty="0"/>
              <a:t>Target = mario.x - 80 px; lerps at 20% per tick toward target (smoothing = 0.2)</a:t>
            </a:r>
          </a:p>
          <a:p>
            <a:pPr lvl="1"/>
            <a:r>
              <a:rPr lang="en-US" sz="1800" dirty="0"/>
              <a:t>Clamped to [0, 2200 - 240] so the world edge is never overscrolled</a:t>
            </a:r>
          </a:p>
          <a:p>
            <a:pPr marL="273685" indent="-273685"/>
            <a:r>
              <a:rPr lang="en-US" sz="2000" b="1" dirty="0">
                <a:solidFill>
                  <a:srgbClr val="45A8C4"/>
                </a:solidFill>
              </a:rPr>
              <a:t>update(InputState) returns a list of event strings</a:t>
            </a:r>
          </a:p>
          <a:p>
            <a:pPr lvl="1"/>
            <a:r>
              <a:rPr lang="en-US" sz="1800" dirty="0"/>
              <a:t>Physics: gravity 0.6 px/tick^2, jump strength -10, walk 2.5/run 4.5 px/tick</a:t>
            </a:r>
          </a:p>
          <a:p>
            <a:pPr lvl="1"/>
            <a:r>
              <a:rPr lang="en-US" sz="1800" dirty="0"/>
              <a:t>Nearby-only collision check (&lt; 150 px) to skip distant platforms each tick</a:t>
            </a:r>
          </a:p>
          <a:p>
            <a:pPr lvl="1"/>
            <a:r>
              <a:rPr lang="en-US" sz="1800" dirty="0"/>
              <a:t>Stomp detection: mario.vel_y &gt; 0 AND mario.y &lt; enemy.y on the same tick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SMB — The View (mario_view.py)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Sprites, audio, HUD and overlays.  No game rules.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displayio layer stack (back to front)</a:t>
            </a:r>
          </a:p>
          <a:p>
            <a:pPr lvl="1"/>
            <a:r>
              <a:rPr lang="en-US" sz="2000" dirty="0"/>
              <a:t>Static 240x135 sky bitmap (0x5C94FC blue) -- rendered once, never redrawn</a:t>
            </a:r>
          </a:p>
          <a:p>
            <a:pPr lvl="1"/>
            <a:r>
              <a:rPr lang="en-US" sz="2000" dirty="0"/>
              <a:t>Static ground strip bitmap (0x00AA00 green) at GROUND_Y</a:t>
            </a:r>
          </a:p>
          <a:p>
            <a:pPr lvl="1"/>
            <a:r>
              <a:rPr lang="en-US" sz="2000" dirty="0"/>
              <a:t>_sprite_group -- pre-allocated pools: 75 platforms, 10 enemies, 20 coins, 1 Mario TileGrid</a:t>
            </a:r>
          </a:p>
          <a:p>
            <a:pPr lvl="1"/>
            <a:r>
              <a:rPr lang="en-US" sz="2000" dirty="0"/>
              <a:t>_hud -- SCORE / LIVES / COINS labels with dirty-flag caching (string only created on change)</a:t>
            </a:r>
          </a:p>
          <a:p>
            <a:pPr lvl="1"/>
            <a:r>
              <a:rPr lang="en-US" sz="2000" dirty="0"/>
              <a:t>Overlay groups: _victory_screen, _gameover_screen (hidden until triggered by Controller)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draw(model) -- called every tick at 30 FPS</a:t>
            </a:r>
          </a:p>
          <a:p>
            <a:pPr lvl="1"/>
            <a:r>
              <a:rPr lang="en-US" sz="2000" dirty="0"/>
              <a:t>Camera window culling: only sprites within cam_x +-64 px are shown, rest hidden</a:t>
            </a:r>
          </a:p>
          <a:p>
            <a:pPr lvl="1"/>
            <a:r>
              <a:rPr lang="en-US" sz="2000" dirty="0"/>
              <a:t>Platform tile index set from _TILE_MAP dict: brick=0, question=1, pipe=2</a:t>
            </a:r>
          </a:p>
          <a:p>
            <a:pPr lvl="1"/>
            <a:r>
              <a:rPr lang="en-US" sz="2000" dirty="0"/>
              <a:t>Mario blinks every 10 ticks during invincibility; flip_x set from mario.facing_right</a:t>
            </a:r>
          </a:p>
          <a:p>
            <a:pPr lvl="1"/>
            <a:r>
              <a:rPr lang="en-US" sz="2000" dirty="0"/>
              <a:t>Sprite properties (x, y, tile, flip) only written when value has actually changed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NeoPixel mapping (5 pixels)</a:t>
            </a:r>
          </a:p>
          <a:p>
            <a:pPr lvl="1"/>
            <a:r>
              <a:rPr lang="en-US" sz="2000" dirty="0"/>
              <a:t>Pixel 0: amber while run (CAP1) is held | Pixels 1-3: green per remaining life | Pixel 4: blue while airborne</a:t>
            </a:r>
          </a:p>
          <a:p>
            <a:pPr lvl="1"/>
            <a:r>
              <a:rPr lang="en-US" sz="2000" dirty="0"/>
              <a:t>All gold on level complete; all red on game over (flash_neopixels_gameover)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SMB — The Controller (code.py)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Hardware owner, input normaliser, and event router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IMUController class</a:t>
            </a:r>
          </a:p>
          <a:p>
            <a:pPr lvl="1"/>
            <a:r>
              <a:rPr lang="en-US" sz="2000" dirty="0"/>
              <a:t>X-axis only tilt for horizontal movement (left/right) -- Y axis not used in Mario</a:t>
            </a:r>
          </a:p>
          <a:p>
            <a:pPr lvl="1"/>
            <a:r>
              <a:rPr lang="en-US" sz="2000" dirty="0"/>
              <a:t>Calibrates X bias at startup: 30 samples averaged after 1 s settle time</a:t>
            </a:r>
          </a:p>
          <a:p>
            <a:pPr lvl="1"/>
            <a:r>
              <a:rPr lang="en-US" sz="2000" dirty="0"/>
              <a:t>Dead-zone 0.8 g (wider than Space Impact's 0.4 g -- prevents drift while running)</a:t>
            </a:r>
          </a:p>
          <a:p>
            <a:pPr lvl="1"/>
            <a:r>
              <a:rPr lang="en-US" sz="2000" dirty="0"/>
              <a:t>Full range 6.0 g normalised to [-1.0, 1.0] -- larger range suits slower platformer input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Jump buffering (D3 button, active-LOW)</a:t>
            </a:r>
          </a:p>
          <a:p>
            <a:pPr lvl="1"/>
            <a:r>
              <a:rPr lang="en-US" sz="2000" dirty="0"/>
              <a:t>poll_button() called at frame top -- catches taps during draw() and sleep()</a:t>
            </a:r>
          </a:p>
          <a:p>
            <a:pPr lvl="1"/>
            <a:r>
              <a:rPr lang="en-US" sz="2000" dirty="0"/>
              <a:t>3-frame buffer: press stored for ~100 ms so quick taps are never swallowed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CAP1 run touch -- debounced</a:t>
            </a:r>
          </a:p>
          <a:p>
            <a:pPr lvl="1"/>
            <a:r>
              <a:rPr lang="en-US" sz="2000" dirty="0"/>
              <a:t>Latch True immediately on touch; only release after 3 consecutive False readings</a:t>
            </a:r>
          </a:p>
          <a:p>
            <a:pPr lvl="1"/>
            <a:r>
              <a:rPr lang="en-US" sz="2000" dirty="0"/>
              <a:t>Passed as InputState.run -- MarioModel uses it to switch MOVE_SPEED (2.5) vs RUN_SPEED (4.5)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Game-over hold screen</a:t>
            </a:r>
          </a:p>
          <a:p>
            <a:pPr lvl="1"/>
            <a:r>
              <a:rPr lang="en-US" sz="2000" dirty="0"/>
              <a:t>Model emits "gameover"; Controller runs a 150-frame (~5 s) countdown loop</a:t>
            </a:r>
          </a:p>
          <a:p>
            <a:pPr lvl="1"/>
            <a:r>
              <a:rPr lang="en-US" sz="2000" dirty="0"/>
              <a:t>After hold: model.reset() + view.hide_overlays() -- clean handoff back to Model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SMB — Events and Embedded Concepts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How the three layers communicate, and what students learn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Event vocabulary from model.update()</a:t>
            </a:r>
          </a:p>
          <a:p>
            <a:pPr lvl="1"/>
            <a:r>
              <a:rPr lang="en-US" sz="2000" dirty="0"/>
              <a:t>"jumped" -&gt; view.play_sfx("jump")</a:t>
            </a:r>
          </a:p>
          <a:p>
            <a:pPr lvl="1"/>
            <a:r>
              <a:rPr lang="en-US" sz="2000" dirty="0"/>
              <a:t>"coin" -&gt; view.play_sfx("coin")  (+200 score, coin counter++)</a:t>
            </a:r>
          </a:p>
          <a:p>
            <a:pPr lvl="1"/>
            <a:r>
              <a:rPr lang="en-US" sz="2000" dirty="0"/>
              <a:t>"stomp" -&gt; +100 score, mario vel_y = -6 (bounce), enemy.alive = False</a:t>
            </a:r>
          </a:p>
          <a:p>
            <a:pPr lvl="1"/>
            <a:r>
              <a:rPr lang="en-US" sz="2000" dirty="0"/>
              <a:t>"enemy_hit" -&gt; lives--, invincible = 120 ticks (~4 s)</a:t>
            </a:r>
          </a:p>
          <a:p>
            <a:pPr lvl="1"/>
            <a:r>
              <a:rPr lang="en-US" sz="2000" dirty="0"/>
              <a:t>"level_complete" -&gt; view.show_victory(), victory_timer = 180 ticks (6 s)</a:t>
            </a:r>
          </a:p>
          <a:p>
            <a:pPr lvl="1"/>
            <a:r>
              <a:rPr lang="en-US" sz="2000" dirty="0"/>
              <a:t>"gameover" -&gt; view.show_game_over(), 150-frame hold in Controller, then model.reset()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Key embedded concepts showcased</a:t>
            </a:r>
          </a:p>
          <a:p>
            <a:pPr lvl="1"/>
            <a:r>
              <a:rPr lang="en-US" sz="2000" dirty="0"/>
              <a:t>World vs screen coordinates -- level is 2200 px wide; Camera.x offsets every draw call</a:t>
            </a:r>
          </a:p>
          <a:p>
            <a:pPr lvl="1"/>
            <a:r>
              <a:rPr lang="en-US" sz="2000" dirty="0"/>
              <a:t>Viewport culling -- only sprites within cam_x +/- 64 px sent to displayio each frame</a:t>
            </a:r>
          </a:p>
          <a:p>
            <a:pPr lvl="1"/>
            <a:r>
              <a:rPr lang="en-US" sz="2000" dirty="0"/>
              <a:t>flip_x sprite mirroring -- single 16x16 Mario sprite sheet covers both directions</a:t>
            </a:r>
          </a:p>
          <a:p>
            <a:pPr lvl="1"/>
            <a:r>
              <a:rPr lang="en-US" sz="2000" dirty="0"/>
              <a:t>Static backgrounds -- sky and ground bitmaps rendered once; never redrawn to avoid flicker</a:t>
            </a:r>
          </a:p>
          <a:p>
            <a:pPr lvl="1"/>
            <a:r>
              <a:rPr lang="en-US" sz="2000" dirty="0"/>
              <a:t>Nearby-only AABB -- platform list filtered by |dx|, |dy| &lt; 150 px before collision test</a:t>
            </a:r>
          </a:p>
          <a:p>
            <a:pPr lvl="1"/>
            <a:r>
              <a:rPr lang="en-US" sz="2000" dirty="0"/>
              <a:t>Dirty-flag HUD -- label.text string only allocated when score/lives/coins actually change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Space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99" y="831987"/>
            <a:ext cx="11403631" cy="4286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MVC deep-dive — Nokia-inspired shoot-em-up on the PyKit Explorer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C3589-0EFC-0679-D447-23C34654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60" y="1403852"/>
            <a:ext cx="8209512" cy="4905184"/>
          </a:xfrm>
          <a:prstGeom prst="rect">
            <a:avLst/>
          </a:prstGeom>
          <a:noFill/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Impact — The Model (space_model.py)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All game state and rules.  Zero hardware.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rmAutofit fontScale="77500" lnSpcReduction="20000"/>
          </a:bodyPr>
          <a:lstStyle/>
          <a:p>
            <a:pPr marL="273685" indent="-273685"/>
            <a:r>
              <a:rPr lang="en-US" b="1" dirty="0">
                <a:solidFill>
                  <a:srgbClr val="45A8C4"/>
                </a:solidFill>
              </a:rPr>
              <a:t>Entities</a:t>
            </a:r>
          </a:p>
          <a:p>
            <a:pPr lvl="1"/>
            <a:r>
              <a:rPr lang="en-US" dirty="0"/>
              <a:t>Ship — position, velocity, sprite_frame, fire_cooldown, has_shield, rapid_fire, special_ammo</a:t>
            </a:r>
          </a:p>
          <a:p>
            <a:pPr lvl="1"/>
            <a:r>
              <a:rPr lang="en-US" dirty="0"/>
              <a:t>Enemy — 4 types: Scout (straight), Weaver (sine wave), Diver (tracks player Y), Boss (oscillates + fires spread)</a:t>
            </a:r>
          </a:p>
          <a:p>
            <a:pPr lvl="1"/>
            <a:r>
              <a:rPr lang="en-US" dirty="0"/>
              <a:t>Bullet / EnemyBullet / PowerUp / Explosion / Star — pre-allocated pools to avoid heap fragmentation</a:t>
            </a:r>
          </a:p>
          <a:p>
            <a:pPr marL="273685" indent="-273685"/>
            <a:r>
              <a:rPr lang="en-US" b="1" dirty="0">
                <a:solidFill>
                  <a:srgbClr val="45A8C4"/>
                </a:solidFill>
              </a:rPr>
              <a:t>WaveManager</a:t>
            </a:r>
          </a:p>
          <a:p>
            <a:pPr lvl="1"/>
            <a:r>
              <a:rPr lang="en-US" dirty="0"/>
              <a:t>Reads wave definitions per level (1-3) and spawns enemies by delay_ticks offset</a:t>
            </a:r>
          </a:p>
          <a:p>
            <a:pPr lvl="1"/>
            <a:r>
              <a:rPr lang="en-US" dirty="0"/>
              <a:t>After all waves: spawns a Boss with scaled HP (5 / 8 / 12 per level)</a:t>
            </a:r>
          </a:p>
          <a:p>
            <a:pPr lvl="1"/>
            <a:r>
              <a:rPr lang="en-US" dirty="0"/>
              <a:t>Sets all_done = True when boss dies, triggering level_complete flow</a:t>
            </a:r>
          </a:p>
          <a:p>
            <a:pPr marL="273685" indent="-273685"/>
            <a:r>
              <a:rPr lang="en-US" b="1" dirty="0">
                <a:solidFill>
                  <a:srgbClr val="45A8C4"/>
                </a:solidFill>
              </a:rPr>
              <a:t>update(InputState) returns a list of event strings</a:t>
            </a:r>
          </a:p>
          <a:p>
            <a:pPr lvl="1"/>
            <a:r>
              <a:rPr lang="en-US" dirty="0"/>
              <a:t>IMU tilt_x / tilt_y applied directly to ship vel_x / vel_y each tick</a:t>
            </a:r>
          </a:p>
          <a:p>
            <a:pPr lvl="1"/>
            <a:r>
              <a:rPr lang="en-US" dirty="0"/>
              <a:t>AABB collision: bullet-enemy, enemy bullet-ship, enemy-ship body</a:t>
            </a:r>
          </a:p>
          <a:p>
            <a:pPr lvl="1"/>
            <a:r>
              <a:rPr lang="en-US" dirty="0"/>
              <a:t>Power-ups: 20% drop on enemy kill — shield, rapid-fire (300 ticks), or +1 life</a:t>
            </a:r>
          </a:p>
          <a:p>
            <a:pPr marL="273685" indent="-273685"/>
            <a:r>
              <a:rPr lang="en-US" b="1" dirty="0"/>
              <a:t>No random module used — LCG pseudo-random for star Y and power-up drops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Impact — The View (space_view.py)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Sprites, audio, HUD and overlays.  No game rules.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displayio layer stack (back to front)</a:t>
            </a:r>
          </a:p>
          <a:p>
            <a:pPr lvl="1"/>
            <a:r>
              <a:rPr lang="en-US" sz="2000" dirty="0"/>
              <a:t>Static 240x135 black background bitmap</a:t>
            </a:r>
          </a:p>
          <a:p>
            <a:pPr lvl="1"/>
            <a:r>
              <a:rPr lang="en-US" sz="2000" dirty="0"/>
              <a:t>_star_group — 30 TileGrids (12 bright fast + 18 dim slow) for parallax scrolling</a:t>
            </a:r>
          </a:p>
          <a:p>
            <a:pPr lvl="1"/>
            <a:r>
              <a:rPr lang="en-US" sz="2000" dirty="0"/>
              <a:t>_sprite_group — pre-built pools: 8 bullets, 6 enemy bullets, 12 enemies, 3 power-ups, 5 explosions, 1 ship</a:t>
            </a:r>
          </a:p>
          <a:p>
            <a:pPr lvl="1"/>
            <a:r>
              <a:rPr lang="en-US" sz="2000" dirty="0"/>
              <a:t>_hud — SCORE / HP / LV / SP labels with dirty-flag updates (only redraws on change)</a:t>
            </a:r>
          </a:p>
          <a:p>
            <a:pPr lvl="1"/>
            <a:r>
              <a:rPr lang="en-US" sz="2000" dirty="0"/>
              <a:t>Overlay groups: _victory_screen, _gameover_screen, _start_menu (shown/hidden by Controller)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draw(model) — called every tick at 30 FPS</a:t>
            </a:r>
          </a:p>
          <a:p>
            <a:pPr lvl="1"/>
            <a:r>
              <a:rPr lang="en-US" sz="2000" dirty="0"/>
              <a:t>Iterates model lists, positions sprites; hides unused pool slots</a:t>
            </a:r>
          </a:p>
          <a:p>
            <a:pPr lvl="1"/>
            <a:r>
              <a:rPr lang="en-US" sz="2000" dirty="0"/>
              <a:t>Ship blinks during invincibility (visible when invincible % 8 &lt; 4)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AudioManager (_AudioManager)</a:t>
            </a:r>
          </a:p>
          <a:p>
            <a:pPr lvl="1"/>
            <a:r>
              <a:rPr lang="en-US" sz="2000" dirty="0"/>
              <a:t>Opens WAV file per play, closes after — keeps heap usage low</a:t>
            </a:r>
          </a:p>
          <a:p>
            <a:pPr lvl="1"/>
            <a:r>
              <a:rPr lang="en-US" sz="2000" dirty="0"/>
              <a:t>Rate-limited to 80 ms minimum between plays; reinitialises AudioOut every 50 plays</a:t>
            </a:r>
          </a:p>
          <a:p>
            <a:pPr marL="273685" indent="-273685"/>
            <a:r>
              <a:rPr lang="en-US" sz="2400" b="1" dirty="0"/>
              <a:t>NeoPixel mapping: pixel 0 = shield/special | 1-3 = lives | 4 = firing flash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Impact — The Controller (code.py)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Hardware owner, state machine, and event router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IMUController class</a:t>
            </a:r>
          </a:p>
          <a:p>
            <a:pPr lvl="1"/>
            <a:r>
              <a:rPr lang="en-US" sz="2000" dirty="0"/>
              <a:t>Calibrates X and Y axes at startup: averages 30 samples to find resting bias</a:t>
            </a:r>
          </a:p>
          <a:p>
            <a:pPr lvl="1"/>
            <a:r>
              <a:rPr lang="en-US" sz="2000" dirty="0"/>
              <a:t>Dead-zone (0.4 g) + range normalisation to [-1.0, 1.0] — same interface as Snake</a:t>
            </a:r>
          </a:p>
          <a:p>
            <a:pPr lvl="1"/>
            <a:r>
              <a:rPr lang="en-US" sz="2000" dirty="0"/>
              <a:t>Fire button (D3, active-LOW) with 3-frame buffer to catch fast taps during draw()</a:t>
            </a:r>
          </a:p>
          <a:p>
            <a:pPr lvl="1"/>
            <a:r>
              <a:rPr lang="en-US" sz="2000" dirty="0"/>
              <a:t>Special weapon (CAP1 touch) with 3-tick debounce and edge detection — fires on rising edge only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Game state machine (4 states)</a:t>
            </a:r>
          </a:p>
          <a:p>
            <a:pPr lvl="1"/>
            <a:r>
              <a:rPr lang="en-US" sz="2000" dirty="0"/>
              <a:t>STATE_MENU — shows title screen, blinks prompt, waits for fire button</a:t>
            </a:r>
          </a:p>
          <a:p>
            <a:pPr lvl="1"/>
            <a:r>
              <a:rPr lang="en-US" sz="2000" dirty="0"/>
              <a:t>STATE_PLAYING — calls model.update(inp), routes events, calls view.draw(model)</a:t>
            </a:r>
          </a:p>
          <a:p>
            <a:pPr lvl="1"/>
            <a:r>
              <a:rPr lang="en-US" sz="2000" dirty="0"/>
              <a:t>STATE_GAMEOVER — holds game-over screen for 2 s then returns to menu</a:t>
            </a:r>
          </a:p>
          <a:p>
            <a:pPr lvl="1"/>
            <a:r>
              <a:rPr lang="en-US" sz="2000" dirty="0"/>
              <a:t>STATE_VICTORY — holds all-clear screen until fire button is pressed</a:t>
            </a:r>
          </a:p>
          <a:p>
            <a:pPr marL="273685" indent="-273685"/>
            <a:r>
              <a:rPr lang="en-US" sz="2400" b="1" dirty="0"/>
              <a:t>Compared to Snake controller</a:t>
            </a:r>
          </a:p>
          <a:p>
            <a:pPr lvl="1"/>
            <a:r>
              <a:rPr lang="en-US" sz="2000" dirty="0"/>
              <a:t>Two-axis IMU input (X + Y) vs. Snake's single dominant-axis tilt</a:t>
            </a:r>
          </a:p>
          <a:p>
            <a:pPr lvl="1"/>
            <a:r>
              <a:rPr lang="en-US" sz="2000" dirty="0"/>
              <a:t>Event list per tick (multiple events possible) vs. Snake's single event string</a:t>
            </a:r>
          </a:p>
          <a:p>
            <a:pPr lvl="1"/>
            <a:r>
              <a:rPr lang="en-US" sz="2000" dirty="0"/>
              <a:t>Explicit state machine vs. Snake's simpler linear loop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6297"/>
            <a:ext cx="12192000" cy="777240"/>
          </a:xfrm>
        </p:spPr>
        <p:txBody>
          <a:bodyPr/>
          <a:lstStyle/>
          <a:p>
            <a:r>
              <a:rPr lang="en-US" sz="4000" dirty="0"/>
              <a:t>Space Impact — Events, Audio and Embedded Concepts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5A8C4"/>
                </a:solidFill>
              </a:rPr>
              <a:t>How the three layers communicate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41196" y="1372527"/>
            <a:ext cx="11154553" cy="5358648"/>
          </a:xfrm>
        </p:spPr>
        <p:txBody>
          <a:bodyPr vert="horz" lIns="121888" tIns="60944" rIns="121888" bIns="60944" rtlCol="0" anchor="t">
            <a:noAutofit/>
          </a:bodyPr>
          <a:lstStyle/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Full event vocabulary from model.update()</a:t>
            </a:r>
          </a:p>
          <a:p>
            <a:pPr lvl="1"/>
            <a:r>
              <a:rPr lang="en-US" sz="2000" dirty="0"/>
              <a:t>"fired" / "special_fired" → view.play_sfx("shoot")</a:t>
            </a:r>
          </a:p>
          <a:p>
            <a:pPr lvl="1"/>
            <a:r>
              <a:rPr lang="en-US" sz="2000" dirty="0"/>
              <a:t>"enemy_destroyed" → view.play_sfx("explosion")</a:t>
            </a:r>
          </a:p>
          <a:p>
            <a:pPr lvl="1"/>
            <a:r>
              <a:rPr lang="en-US" sz="2000" dirty="0"/>
              <a:t>"boss_hit" / "boss_destroyed" → view.play_sfx("hit") or "boss_explode"</a:t>
            </a:r>
          </a:p>
          <a:p>
            <a:pPr lvl="1"/>
            <a:r>
              <a:rPr lang="en-US" sz="2000" dirty="0"/>
              <a:t>"player_hit" / "shield_hit" → view.play_sfx("hit")</a:t>
            </a:r>
          </a:p>
          <a:p>
            <a:pPr lvl="1"/>
            <a:r>
              <a:rPr lang="en-US" sz="2000" dirty="0"/>
              <a:t>"powerup_collected" → view.play_sfx("powerup")</a:t>
            </a:r>
          </a:p>
          <a:p>
            <a:pPr lvl="1"/>
            <a:r>
              <a:rPr lang="en-US" sz="2000" dirty="0"/>
              <a:t>"level_complete" / "all_clear" / "gameover" → overlay + state transition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Audio synthesis (generate_audio.py)</a:t>
            </a:r>
          </a:p>
          <a:p>
            <a:pPr lvl="1"/>
            <a:r>
              <a:rPr lang="en-US" sz="2000" dirty="0"/>
              <a:t>7 WAV files generated on-PC using NumPy (sine sweeps, noise bursts, ADSR envelopes)</a:t>
            </a:r>
          </a:p>
          <a:p>
            <a:pPr lvl="1"/>
            <a:r>
              <a:rPr lang="en-US" sz="2000" dirty="0"/>
              <a:t>Mono 16-bit PCM 22050 Hz -- exact format required by CircuitPython audiocore.WaveFile</a:t>
            </a:r>
          </a:p>
          <a:p>
            <a:pPr marL="273685" indent="-273685"/>
            <a:r>
              <a:rPr lang="en-US" sz="2400" b="1" dirty="0">
                <a:solidFill>
                  <a:srgbClr val="45A8C4"/>
                </a:solidFill>
              </a:rPr>
              <a:t>Key embedded concepts showcased</a:t>
            </a:r>
          </a:p>
          <a:p>
            <a:pPr lvl="1"/>
            <a:r>
              <a:rPr lang="en-US" sz="2000" dirty="0"/>
              <a:t>Sprite sheet pooling -- TileGrids pre-built; tile index set per frame (no GC pressure)</a:t>
            </a:r>
          </a:p>
          <a:p>
            <a:pPr lvl="1"/>
            <a:r>
              <a:rPr lang="en-US" sz="2000" dirty="0"/>
              <a:t>Dirty-flag HUD updates -- label.text only written when value changes</a:t>
            </a:r>
          </a:p>
          <a:p>
            <a:pPr lvl="1"/>
            <a:r>
              <a:rPr lang="en-US" sz="2000" dirty="0"/>
              <a:t>Forgiving AABB hitbox -- ship hit area (10x8) smaller than sprite (16x16)</a:t>
            </a:r>
          </a:p>
          <a:p>
            <a:pPr lvl="1"/>
            <a:r>
              <a:rPr lang="en-US" sz="2000" dirty="0"/>
              <a:t>Periodic GC every 90 frames (~3 s) to prevent fragmentation without stalling gameplay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2879</Words>
  <Application>Microsoft Office PowerPoint</Application>
  <PresentationFormat>Widescreen</PresentationFormat>
  <Paragraphs>235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Academic Program Workshop: Microchip PyKit Explorer Games</vt:lpstr>
      <vt:lpstr>PyKit Explorer Games</vt:lpstr>
      <vt:lpstr>The PyKit Explorer Games</vt:lpstr>
      <vt:lpstr>Software Architecture: MVC</vt:lpstr>
      <vt:lpstr>The Model — snake_model.py</vt:lpstr>
      <vt:lpstr>The View — snake_view.py</vt:lpstr>
      <vt:lpstr>The Controller — code.py</vt:lpstr>
      <vt:lpstr>Snake — MVC Data Flow</vt:lpstr>
      <vt:lpstr>Embedded Systems Concepts in the Games</vt:lpstr>
      <vt:lpstr>Super Mario Bros</vt:lpstr>
      <vt:lpstr>SMB — The Model (mario_model.py)</vt:lpstr>
      <vt:lpstr>SMB — The View (mario_view.py)</vt:lpstr>
      <vt:lpstr>SMB — The Controller (code.py)</vt:lpstr>
      <vt:lpstr>SMB — Events and Embedded Concepts</vt:lpstr>
      <vt:lpstr>Space Impact</vt:lpstr>
      <vt:lpstr>Space Impact — The Model (space_model.py)</vt:lpstr>
      <vt:lpstr>Space Impact — The View (space_view.py)</vt:lpstr>
      <vt:lpstr>Space Impact — The Controller (code.py)</vt:lpstr>
      <vt:lpstr>Space Impact — Events, Audio and Embedded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Satchell - C52467</dc:creator>
  <cp:lastModifiedBy>Ross Satchell - C52467</cp:lastModifiedBy>
  <cp:revision>4</cp:revision>
  <dcterms:created xsi:type="dcterms:W3CDTF">2026-04-25T00:20:20Z</dcterms:created>
  <dcterms:modified xsi:type="dcterms:W3CDTF">2026-04-28T23:51:59Z</dcterms:modified>
</cp:coreProperties>
</file>